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python.org/downloads/" TargetMode="Externa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501" TargetMode="Externa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://localhost:8501" TargetMode="Externa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8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680960" y="-1463040"/>
            <a:ext cx="5669280" cy="5669280"/>
          </a:xfrm>
          <a:prstGeom prst="ellipse">
            <a:avLst/>
          </a:prstGeom>
          <a:noFill/>
          <a:ln w="25400">
            <a:solidFill>
              <a:srgbClr val="2A4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0" y="2743200"/>
            <a:ext cx="4937760" cy="4937760"/>
          </a:xfrm>
          <a:prstGeom prst="ellipse">
            <a:avLst/>
          </a:prstGeom>
          <a:noFill/>
          <a:ln w="19050">
            <a:solidFill>
              <a:srgbClr val="2E9E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1874519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61288" y="1874519"/>
            <a:ext cx="146304" cy="146304"/>
          </a:xfrm>
          <a:prstGeom prst="ellipse">
            <a:avLst/>
          </a:prstGeom>
          <a:solidFill>
            <a:srgbClr val="2A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3895" y="1874519"/>
            <a:ext cx="146304" cy="146304"/>
          </a:xfrm>
          <a:prstGeom prst="ellipse">
            <a:avLst/>
          </a:prstGeom>
          <a:solidFill>
            <a:srgbClr val="2A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746504" y="1874519"/>
            <a:ext cx="146304" cy="146304"/>
          </a:xfrm>
          <a:prstGeom prst="ellipse">
            <a:avLst/>
          </a:prstGeom>
          <a:solidFill>
            <a:srgbClr val="2A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0241280" cy="18288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DPS 空調デマンド制御</a:t>
            </a:r>
          </a:p>
          <a:p>
            <a:pPr algn="l">
              <a:lnSpc>
                <a:spcPct val="104000"/>
              </a:lnSpc>
              <a:spcAft>
                <a:spcPts val="200"/>
              </a:spcAft>
            </a:pPr>
            <a:r>
              <a:rPr sz="4600" b="1">
                <a:solidFill>
                  <a:srgbClr val="FFFFFF"/>
                </a:solidFill>
                <a:latin typeface="Cambria"/>
              </a:rPr>
              <a:t>試算アプリ　導入マニュアル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160520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0">
                <a:solidFill>
                  <a:srgbClr val="C9DAF5"/>
                </a:solidFill>
                <a:latin typeface="Calibri"/>
              </a:rPr>
              <a:t>検針票から削減効果・投資回収を自動試算するブラウザアプリ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00600"/>
            <a:ext cx="457200" cy="54864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4956048"/>
            <a:ext cx="960120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36C06B"/>
                </a:solidFill>
                <a:latin typeface="Calibri"/>
              </a:rPr>
              <a:t>初めての方向け  セットアップ ＆ 基本操作ガイド</a:t>
            </a:r>
          </a:p>
        </p:txBody>
      </p:sp>
      <p:pic>
        <p:nvPicPr>
          <p:cNvPr id="13" name="Picture 12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02920"/>
            <a:ext cx="603504" cy="60350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603504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Cambria"/>
              </a:rPr>
              <a:t>✨  このアプリでできること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検針票12ヶ月分のデータから、提案・稟議に使う数字を自動で作成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5166360" cy="19202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075688"/>
            <a:ext cx="8686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112264"/>
            <a:ext cx="36118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mbria"/>
              </a:rPr>
              <a:t>削減効果を自動試算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94560" y="2624328"/>
            <a:ext cx="361188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空調デマンド制御による電気代の削減額・投資回収期間を算出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783080"/>
            <a:ext cx="5166360" cy="19202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83680" y="2075688"/>
            <a:ext cx="8686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2112264"/>
            <a:ext cx="36118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mbria"/>
              </a:rPr>
              <a:t>財務試算まで一気通貫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2624328"/>
            <a:ext cx="361188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機材費・工事費・利用料・補助金 → 純削減／NPV・IRR／10年・15年収支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5166360" cy="19202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4270248"/>
            <a:ext cx="8686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4306824"/>
            <a:ext cx="36118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mbria"/>
              </a:rPr>
              <a:t>提案資料を自動生成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4818888"/>
            <a:ext cx="361188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Excel稟議シート・PowerPoint提案書をワンクリックで出力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977639"/>
            <a:ext cx="5166360" cy="192024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0" y="4270248"/>
            <a:ext cx="868680" cy="86868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🗂️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0" y="4306824"/>
            <a:ext cx="361188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900" b="1">
                <a:solidFill>
                  <a:srgbClr val="1F3864"/>
                </a:solidFill>
                <a:latin typeface="Cambria"/>
              </a:rPr>
              <a:t>案件管理・各種設定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4818888"/>
            <a:ext cx="361188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結果一覧に保存。固定値（単価・係数）は管理画面で調整可能</a:t>
            </a:r>
          </a:p>
        </p:txBody>
      </p:sp>
      <p:pic>
        <p:nvPicPr>
          <p:cNvPr id="21" name="Picture 20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603504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Cambria"/>
              </a:rPr>
              <a:t>🧩  動作環境・必要なもの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用意するのは次の4つだけ。アプリ一式フォルダは別途共有されます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06040" cy="2468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14500" y="2057400"/>
            <a:ext cx="822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700">
                <a:latin typeface="Calibri"/>
              </a:rPr>
              <a:t>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008376"/>
            <a:ext cx="2386584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1F3864"/>
                </a:solidFill>
                <a:latin typeface="Cambria"/>
              </a:rPr>
              <a:t>Windows PC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3447288"/>
            <a:ext cx="2386584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インターネット接続が</a:t>
            </a:r>
          </a:p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できるパソコン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5888" y="1783080"/>
            <a:ext cx="2606040" cy="2468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67428" y="2057400"/>
            <a:ext cx="822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700">
                <a:latin typeface="Calibri"/>
              </a:rPr>
              <a:t>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85616" y="3008376"/>
            <a:ext cx="2386584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1F3864"/>
                </a:solidFill>
                <a:latin typeface="Cambria"/>
              </a:rPr>
              <a:t>Python（無料）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6" y="3447288"/>
            <a:ext cx="2386584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次ページの手順で</a:t>
            </a:r>
          </a:p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インストールします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28816" y="1783080"/>
            <a:ext cx="2606040" cy="2468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420356" y="2057400"/>
            <a:ext cx="822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700">
                <a:latin typeface="Calibri"/>
              </a:rPr>
              <a:t>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38544" y="3008376"/>
            <a:ext cx="2386584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1F3864"/>
                </a:solidFill>
                <a:latin typeface="Cambria"/>
              </a:rPr>
              <a:t>アプリ一式フォルダ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3447288"/>
            <a:ext cx="2386584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app.py・画像・設定ファイル</a:t>
            </a:r>
          </a:p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※別途共有予定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1744" y="1783080"/>
            <a:ext cx="2606040" cy="24688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73284" y="2057400"/>
            <a:ext cx="822960" cy="82296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700">
                <a:latin typeface="Calibri"/>
              </a:rPr>
              <a:t>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91472" y="3008376"/>
            <a:ext cx="2386584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550" b="1">
                <a:solidFill>
                  <a:srgbClr val="1F3864"/>
                </a:solidFill>
                <a:latin typeface="Cambria"/>
              </a:rPr>
              <a:t>Webブラウザ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447288"/>
            <a:ext cx="2386584" cy="8229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Chrome / Edge など</a:t>
            </a:r>
          </a:p>
          <a:p>
            <a:pPr algn="ctr">
              <a:lnSpc>
                <a:spcPct val="106000"/>
              </a:lnSpc>
              <a:spcAft>
                <a:spcPts val="100"/>
              </a:spcAft>
            </a:pPr>
            <a:r>
              <a:rPr sz="1250" b="0">
                <a:solidFill>
                  <a:srgbClr val="5A6474"/>
                </a:solidFill>
                <a:latin typeface="Calibri"/>
              </a:rPr>
              <a:t>（標準のものでOK）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937760"/>
            <a:ext cx="10561320" cy="777240"/>
          </a:xfrm>
          <a:prstGeom prst="roundRect">
            <a:avLst/>
          </a:prstGeom>
          <a:solidFill>
            <a:srgbClr val="E4F4EA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4937760"/>
            <a:ext cx="10058400" cy="77724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2E9E5B"/>
                </a:solidFill>
                <a:latin typeface="Calibri"/>
              </a:rPr>
              <a:t>📁  </a:t>
            </a:r>
            <a:r>
              <a:rPr sz="1500" b="1">
                <a:solidFill>
                  <a:srgbClr val="1E6B2E"/>
                </a:solidFill>
                <a:latin typeface="Calibri"/>
              </a:rPr>
              <a:t>「アプリ一式フォルダ」は管理者から別途共有されます</a:t>
            </a:r>
            <a:r>
              <a:rPr sz="1300" b="0">
                <a:solidFill>
                  <a:srgbClr val="5A6474"/>
                </a:solidFill>
                <a:latin typeface="Calibri"/>
              </a:rPr>
              <a:t>（app.py・画像png・dps_app_data.json などを同梱）</a:t>
            </a:r>
          </a:p>
        </p:txBody>
      </p:sp>
      <p:pic>
        <p:nvPicPr>
          <p:cNvPr id="23" name="Picture 22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603504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Cambria"/>
              </a:rPr>
              <a:t>🚀  導入の流れ（4ステップ）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最初の1回だけ設定すれば、次回からは起動コマンドだけで使えます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08760" y="2331720"/>
            <a:ext cx="1188720" cy="11887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3400">
                <a:latin typeface="Calibri"/>
              </a:rPr>
              <a:t>🐍  </a:t>
            </a:r>
            <a:r>
              <a:rPr sz="4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50791"/>
            <a:ext cx="246888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Pythonを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インストール</a:t>
            </a:r>
          </a:p>
        </p:txBody>
      </p:sp>
      <p:sp>
        <p:nvSpPr>
          <p:cNvPr id="8" name="Chevron 7"/>
          <p:cNvSpPr/>
          <p:nvPr/>
        </p:nvSpPr>
        <p:spPr>
          <a:xfrm>
            <a:off x="3364992" y="2807208"/>
            <a:ext cx="329184" cy="237744"/>
          </a:xfrm>
          <a:prstGeom prst="chevron">
            <a:avLst/>
          </a:prstGeom>
          <a:solidFill>
            <a:srgbClr val="C9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61688" y="2331720"/>
            <a:ext cx="1188720" cy="11887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3400">
                <a:latin typeface="Calibri"/>
              </a:rPr>
              <a:t>📦  </a:t>
            </a:r>
            <a:r>
              <a:rPr sz="4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21608" y="3703320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8" y="4050791"/>
            <a:ext cx="246888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ライブラリを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導入</a:t>
            </a:r>
          </a:p>
        </p:txBody>
      </p:sp>
      <p:sp>
        <p:nvSpPr>
          <p:cNvPr id="12" name="Chevron 11"/>
          <p:cNvSpPr/>
          <p:nvPr/>
        </p:nvSpPr>
        <p:spPr>
          <a:xfrm>
            <a:off x="6217920" y="2807208"/>
            <a:ext cx="329184" cy="237744"/>
          </a:xfrm>
          <a:prstGeom prst="chevron">
            <a:avLst/>
          </a:prstGeom>
          <a:solidFill>
            <a:srgbClr val="C9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214616" y="2331720"/>
            <a:ext cx="1188720" cy="11887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3400">
                <a:latin typeface="Calibri"/>
              </a:rPr>
              <a:t>📁  </a:t>
            </a:r>
            <a:r>
              <a:rPr sz="4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74536" y="3703320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74536" y="4050791"/>
            <a:ext cx="246888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フォルダを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配置</a:t>
            </a:r>
          </a:p>
        </p:txBody>
      </p:sp>
      <p:sp>
        <p:nvSpPr>
          <p:cNvPr id="16" name="Chevron 15"/>
          <p:cNvSpPr/>
          <p:nvPr/>
        </p:nvSpPr>
        <p:spPr>
          <a:xfrm>
            <a:off x="9070848" y="2807208"/>
            <a:ext cx="329184" cy="237744"/>
          </a:xfrm>
          <a:prstGeom prst="chevron">
            <a:avLst/>
          </a:prstGeom>
          <a:solidFill>
            <a:srgbClr val="C9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067543" y="2331720"/>
            <a:ext cx="1188720" cy="1188720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3400">
                <a:latin typeface="Calibri"/>
              </a:rPr>
              <a:t>▶  </a:t>
            </a:r>
            <a:r>
              <a:rPr sz="40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27463" y="3703320"/>
            <a:ext cx="246888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7463" y="4050791"/>
            <a:ext cx="2468880" cy="73152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アプリを</a:t>
            </a:r>
          </a:p>
          <a:p>
            <a:pPr algn="ctr">
              <a:lnSpc>
                <a:spcPct val="106000"/>
              </a:lnSpc>
              <a:spcAft>
                <a:spcPts val="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起動</a:t>
            </a:r>
          </a:p>
        </p:txBody>
      </p:sp>
      <p:pic>
        <p:nvPicPr>
          <p:cNvPr id="20" name="Picture 19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2011680"/>
            <a:ext cx="3291840" cy="4023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26000" b="1">
                <a:solidFill>
                  <a:srgbClr val="ECF1F9"/>
                </a:solidFill>
                <a:latin typeface="Cambria"/>
              </a:rPr>
              <a:t>1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914400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🐍  </a:t>
            </a:r>
            <a:r>
              <a:rPr sz="3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57200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mbria"/>
              </a:rPr>
              <a:t>Python をインストール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1078992"/>
            <a:ext cx="9601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1　</a:t>
            </a:r>
            <a:r>
              <a:rPr sz="1400" b="0">
                <a:solidFill>
                  <a:srgbClr val="5A6474"/>
                </a:solidFill>
                <a:latin typeface="Calibri"/>
              </a:rPr>
              <a:t>プログラムを動かす土台（無料）。最初の1回だけ。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75103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856231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公式サイト </a:t>
            </a:r>
            <a:r>
              <a:rPr sz="1500" b="1">
                <a:solidFill>
                  <a:srgbClr val="2E9E5B"/>
                </a:solidFill>
                <a:latin typeface="Cambria"/>
                <a:hlinkClick r:id="rId2"/>
              </a:rPr>
              <a:t>python.org/downloads</a:t>
            </a:r>
            <a:r>
              <a:rPr sz="1500" b="0">
                <a:solidFill>
                  <a:srgbClr val="242C3A"/>
                </a:solidFill>
                <a:latin typeface="Calibri"/>
              </a:rPr>
              <a:t> から Windows 用インストーラーをダウンロード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0320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41448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インストール画面で </a:t>
            </a:r>
            <a:r>
              <a:rPr sz="1500" b="1">
                <a:solidFill>
                  <a:srgbClr val="1F3864"/>
                </a:solidFill>
                <a:latin typeface="Calibri"/>
              </a:rPr>
              <a:t>「Add Python to PATH」に必ずチェック</a:t>
            </a:r>
            <a:r>
              <a:rPr sz="1500" b="0">
                <a:solidFill>
                  <a:srgbClr val="242C3A"/>
                </a:solidFill>
                <a:latin typeface="Calibri"/>
              </a:rPr>
              <a:t>（重要）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45536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026664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「Install Now」で進めれば完了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5A6474"/>
                </a:solidFill>
                <a:latin typeface="Calibri"/>
              </a:rPr>
              <a:t>▼ コマンド（コピーして実行）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95928"/>
            <a:ext cx="10469880" cy="1078992"/>
          </a:xfrm>
          <a:prstGeom prst="roundRect">
            <a:avLst/>
          </a:prstGeom>
          <a:solidFill>
            <a:srgbClr val="101B2E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414223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71016" y="4142232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72184" y="4142232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79976"/>
            <a:ext cx="10067544" cy="62179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36C06B"/>
                </a:solidFill>
                <a:latin typeface="Consolas"/>
              </a:rPr>
              <a:t>python --version</a:t>
            </a:r>
          </a:p>
          <a:p>
            <a:pPr>
              <a:lnSpc>
                <a:spcPct val="115000"/>
              </a:lnSpc>
            </a:pPr>
            <a:r>
              <a:rPr sz="1350">
                <a:solidFill>
                  <a:srgbClr val="C9DAF5"/>
                </a:solidFill>
                <a:latin typeface="Consolas"/>
              </a:rPr>
              <a:t>  → Python 3.xx と表示されればOK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440680"/>
            <a:ext cx="10469880" cy="676656"/>
          </a:xfrm>
          <a:prstGeom prst="roundRect">
            <a:avLst/>
          </a:prstGeom>
          <a:solidFill>
            <a:srgbClr val="FFF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440680"/>
            <a:ext cx="10104119" cy="6766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B88600"/>
                </a:solidFill>
                <a:latin typeface="Calibri"/>
              </a:rPr>
              <a:t>⚠ </a:t>
            </a:r>
            <a:r>
              <a:rPr sz="1350" b="0">
                <a:solidFill>
                  <a:srgbClr val="242C3A"/>
                </a:solidFill>
                <a:latin typeface="Calibri"/>
              </a:rPr>
              <a:t>「Add Python to PATH」のチェックを忘れると、後の手順でコマンドが認識されません。</a:t>
            </a:r>
          </a:p>
        </p:txBody>
      </p:sp>
      <p:pic>
        <p:nvPicPr>
          <p:cNvPr id="20" name="Picture 19" descr="company_logo_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2011680"/>
            <a:ext cx="3291840" cy="4023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26000" b="1">
                <a:solidFill>
                  <a:srgbClr val="ECF1F9"/>
                </a:solidFill>
                <a:latin typeface="Cambria"/>
              </a:rPr>
              <a:t>2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914400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📦  </a:t>
            </a:r>
            <a:r>
              <a:rPr sz="3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57200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mbria"/>
              </a:rPr>
              <a:t>必要なライブラリを導入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1078992"/>
            <a:ext cx="9601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2　</a:t>
            </a:r>
            <a:r>
              <a:rPr sz="1400" b="0">
                <a:solidFill>
                  <a:srgbClr val="5A6474"/>
                </a:solidFill>
                <a:latin typeface="Calibri"/>
              </a:rPr>
              <a:t>アプリが使う部品をまとめて入れます。最初の1回だけ。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75103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856231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スタートメニューで </a:t>
            </a:r>
            <a:r>
              <a:rPr sz="1500" b="1">
                <a:solidFill>
                  <a:srgbClr val="1F3864"/>
                </a:solidFill>
                <a:latin typeface="Calibri"/>
              </a:rPr>
              <a:t>「コマンドプロンプト」</a:t>
            </a:r>
            <a:r>
              <a:rPr sz="1500" b="0">
                <a:solidFill>
                  <a:srgbClr val="242C3A"/>
                </a:solidFill>
                <a:latin typeface="Calibri"/>
              </a:rPr>
              <a:t> を開く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0320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41448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下のコマンドを貼り付けて Enter（数分かかります）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45536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026664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ネット接続が必要。完了すれば次回からは不要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5A6474"/>
                </a:solidFill>
                <a:latin typeface="Calibri"/>
              </a:rPr>
              <a:t>▼ コマンド（コピーして実行）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95928"/>
            <a:ext cx="10469880" cy="749808"/>
          </a:xfrm>
          <a:prstGeom prst="roundRect">
            <a:avLst/>
          </a:prstGeom>
          <a:solidFill>
            <a:srgbClr val="101B2E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414223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71016" y="4142232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72184" y="4142232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79976"/>
            <a:ext cx="10067544" cy="292608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36C06B"/>
                </a:solidFill>
                <a:latin typeface="Consolas"/>
              </a:rPr>
              <a:t>pip install streamlit pandas altair openpyxl python-pptx pillow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440680"/>
            <a:ext cx="10469880" cy="676656"/>
          </a:xfrm>
          <a:prstGeom prst="roundRect">
            <a:avLst/>
          </a:prstGeom>
          <a:solidFill>
            <a:srgbClr val="FFF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440680"/>
            <a:ext cx="10104119" cy="6766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B88600"/>
                </a:solidFill>
                <a:latin typeface="Calibri"/>
              </a:rPr>
              <a:t>⚠ </a:t>
            </a:r>
            <a:r>
              <a:rPr sz="1350" b="0">
                <a:solidFill>
                  <a:srgbClr val="242C3A"/>
                </a:solidFill>
                <a:latin typeface="Calibri"/>
              </a:rPr>
              <a:t>エラーが出る場合は pip を python -m pip に置き換えて再実行してください（例：python -m pip install …）。</a:t>
            </a:r>
          </a:p>
        </p:txBody>
      </p:sp>
      <p:pic>
        <p:nvPicPr>
          <p:cNvPr id="20" name="Picture 19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2011680"/>
            <a:ext cx="3291840" cy="4023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26000" b="1">
                <a:solidFill>
                  <a:srgbClr val="ECF1F9"/>
                </a:solidFill>
                <a:latin typeface="Cambria"/>
              </a:rPr>
              <a:t>3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914400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📁  </a:t>
            </a:r>
            <a:r>
              <a:rPr sz="3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57200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mbria"/>
              </a:rPr>
              <a:t>アプリ一式フォルダを配置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1078992"/>
            <a:ext cx="9601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3　</a:t>
            </a:r>
            <a:r>
              <a:rPr sz="1400" b="0">
                <a:solidFill>
                  <a:srgbClr val="5A6474"/>
                </a:solidFill>
                <a:latin typeface="Calibri"/>
              </a:rPr>
              <a:t>管理者から共有されるフォルダを、PCの好きな場所に置きます。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75103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856231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共有された </a:t>
            </a:r>
            <a:r>
              <a:rPr sz="1500" b="1">
                <a:solidFill>
                  <a:srgbClr val="1F3864"/>
                </a:solidFill>
                <a:latin typeface="Calibri"/>
              </a:rPr>
              <a:t>「アプリ一式フォルダ」</a:t>
            </a:r>
            <a:r>
              <a:rPr sz="1500" b="0">
                <a:solidFill>
                  <a:srgbClr val="242C3A"/>
                </a:solidFill>
                <a:latin typeface="Calibri"/>
              </a:rPr>
              <a:t> を任意の場所（例：デスクトップ）に置く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0320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41448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フォルダ内には app.py / 画像(png) / dps_app_data.json などが入っています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45536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026664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フォルダの場所（パス）を控えておく（次の起動で使います）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5440680"/>
            <a:ext cx="10469880" cy="676656"/>
          </a:xfrm>
          <a:prstGeom prst="roundRect">
            <a:avLst/>
          </a:prstGeom>
          <a:solidFill>
            <a:srgbClr val="FFF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9848" y="5440680"/>
            <a:ext cx="10104119" cy="6766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B88600"/>
                </a:solidFill>
                <a:latin typeface="Calibri"/>
              </a:rPr>
              <a:t>⚠ </a:t>
            </a:r>
            <a:r>
              <a:rPr sz="1350" b="0">
                <a:solidFill>
                  <a:srgbClr val="242C3A"/>
                </a:solidFill>
                <a:latin typeface="Calibri"/>
              </a:rPr>
              <a:t>フォルダ内のファイル構成は変更しないでください（app.py と同じ場所に画像・設定が必要です）。</a:t>
            </a:r>
          </a:p>
        </p:txBody>
      </p:sp>
      <p:pic>
        <p:nvPicPr>
          <p:cNvPr id="14" name="Picture 13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778240" y="2011680"/>
            <a:ext cx="3291840" cy="402336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r"/>
            <a:r>
              <a:rPr sz="26000" b="1">
                <a:solidFill>
                  <a:srgbClr val="ECF1F9"/>
                </a:solidFill>
                <a:latin typeface="Cambria"/>
              </a:rPr>
              <a:t>4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914400" cy="91440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800">
                <a:latin typeface="Calibri"/>
              </a:rPr>
              <a:t>▶  </a:t>
            </a:r>
            <a:r>
              <a:rPr sz="34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55648" y="457200"/>
            <a:ext cx="960120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2800" b="1">
                <a:solidFill>
                  <a:srgbClr val="1F3864"/>
                </a:solidFill>
                <a:latin typeface="Cambria"/>
              </a:rPr>
              <a:t>アプリを起動する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73936" y="1078992"/>
            <a:ext cx="96012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00" b="1">
                <a:solidFill>
                  <a:srgbClr val="2E9E5B"/>
                </a:solidFill>
                <a:latin typeface="Cambria"/>
              </a:rPr>
              <a:t>STEP 4　</a:t>
            </a:r>
            <a:r>
              <a:rPr sz="1400" b="0">
                <a:solidFill>
                  <a:srgbClr val="5A6474"/>
                </a:solidFill>
                <a:latin typeface="Calibri"/>
              </a:rPr>
              <a:t>次回以降はこの手順だけ。コマンド2つで起動します。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1975103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0432" y="1856231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コマンドプロンプトでフォルダへ移動（cd のあとに半角スペース＋パス）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560320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441448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起動コマンドを実行 → </a:t>
            </a:r>
            <a:r>
              <a:rPr sz="1500" b="1">
                <a:solidFill>
                  <a:srgbClr val="1F3864"/>
                </a:solidFill>
                <a:latin typeface="Calibri"/>
              </a:rPr>
              <a:t>自動でブラウザが開きます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145536"/>
            <a:ext cx="137160" cy="13716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026664"/>
            <a:ext cx="1014984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500" b="0">
                <a:solidFill>
                  <a:srgbClr val="242C3A"/>
                </a:solidFill>
                <a:latin typeface="Calibri"/>
              </a:rPr>
              <a:t>開かないときは </a:t>
            </a:r>
            <a:r>
              <a:rPr sz="1500" b="1">
                <a:solidFill>
                  <a:srgbClr val="2E9E5B"/>
                </a:solidFill>
                <a:latin typeface="Cambria"/>
                <a:hlinkClick r:id="rId2"/>
              </a:rPr>
              <a:t>http://localhost:8501</a:t>
            </a:r>
            <a:r>
              <a:rPr sz="1500" b="0">
                <a:solidFill>
                  <a:srgbClr val="242C3A"/>
                </a:solidFill>
                <a:latin typeface="Calibri"/>
              </a:rPr>
              <a:t> をブラウザに入力／終了は Ctrl +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66744"/>
            <a:ext cx="7315200" cy="292608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200" b="1">
                <a:solidFill>
                  <a:srgbClr val="5A6474"/>
                </a:solidFill>
                <a:latin typeface="Calibri"/>
              </a:rPr>
              <a:t>▼ コマンド（コピーして実行）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3995928"/>
            <a:ext cx="10469880" cy="1078992"/>
          </a:xfrm>
          <a:prstGeom prst="roundRect">
            <a:avLst/>
          </a:prstGeom>
          <a:solidFill>
            <a:srgbClr val="101B2E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69848" y="4142232"/>
            <a:ext cx="109728" cy="109728"/>
          </a:xfrm>
          <a:prstGeom prst="ellipse">
            <a:avLst/>
          </a:prstGeom>
          <a:solidFill>
            <a:srgbClr val="FF5F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271016" y="4142232"/>
            <a:ext cx="109728" cy="109728"/>
          </a:xfrm>
          <a:prstGeom prst="ellipse">
            <a:avLst/>
          </a:prstGeom>
          <a:solidFill>
            <a:srgbClr val="FEB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472184" y="4142232"/>
            <a:ext cx="109728" cy="109728"/>
          </a:xfrm>
          <a:prstGeom prst="ellipse">
            <a:avLst/>
          </a:prstGeom>
          <a:solidFill>
            <a:srgbClr val="28C8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9848" y="4379976"/>
            <a:ext cx="10067544" cy="621792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50">
                <a:solidFill>
                  <a:srgbClr val="36C06B"/>
                </a:solidFill>
                <a:latin typeface="Consolas"/>
              </a:rPr>
              <a:t>cd  （アプリ一式フォルダのパス）</a:t>
            </a:r>
          </a:p>
          <a:p>
            <a:pPr>
              <a:lnSpc>
                <a:spcPct val="115000"/>
              </a:lnSpc>
            </a:pPr>
            <a:r>
              <a:rPr sz="1350">
                <a:solidFill>
                  <a:srgbClr val="36C06B"/>
                </a:solidFill>
                <a:latin typeface="Consolas"/>
              </a:rPr>
              <a:t>streamlit run app.py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5440680"/>
            <a:ext cx="10469880" cy="676656"/>
          </a:xfrm>
          <a:prstGeom prst="roundRect">
            <a:avLst/>
          </a:prstGeom>
          <a:solidFill>
            <a:srgbClr val="FFF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5440680"/>
            <a:ext cx="10104119" cy="676656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1">
                <a:solidFill>
                  <a:srgbClr val="B88600"/>
                </a:solidFill>
                <a:latin typeface="Calibri"/>
              </a:rPr>
              <a:t>⚠ </a:t>
            </a:r>
            <a:r>
              <a:rPr sz="1350" b="0">
                <a:solidFill>
                  <a:srgbClr val="242C3A"/>
                </a:solidFill>
                <a:latin typeface="Calibri"/>
              </a:rPr>
              <a:t>起動後はブラウザのタブで操作します。コマンドプロンプトは開いたままにしてください。</a:t>
            </a:r>
          </a:p>
        </p:txBody>
      </p:sp>
      <p:pic>
        <p:nvPicPr>
          <p:cNvPr id="20" name="Picture 19" descr="company_logo_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603504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Cambria"/>
              </a:rPr>
              <a:t>🧭  基本操作：試算の流れ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サイドバー（左側）に入力 →「シミュレーション実行」で結果が出ます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66928" cy="566928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900">
                <a:latin typeface="Calibri"/>
              </a:rPr>
              <a:t>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801368"/>
            <a:ext cx="42062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50" b="1">
                <a:solidFill>
                  <a:srgbClr val="1F3864"/>
                </a:solidFill>
                <a:latin typeface="Cambria"/>
              </a:rPr>
              <a:t>顧客情報を入力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0" y="1801368"/>
            <a:ext cx="55778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顧客名・業態を選択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1" y="2350008"/>
            <a:ext cx="54864" cy="329184"/>
          </a:xfrm>
          <a:prstGeom prst="rect">
            <a:avLst/>
          </a:prstGeom>
          <a:solidFill>
            <a:srgbClr val="C9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2679191"/>
            <a:ext cx="566928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900">
                <a:latin typeface="Calibri"/>
              </a:rP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697479"/>
            <a:ext cx="42062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50" b="1">
                <a:solidFill>
                  <a:srgbClr val="1F3864"/>
                </a:solidFill>
                <a:latin typeface="Cambria"/>
              </a:rPr>
              <a:t>電力データを取込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697479"/>
            <a:ext cx="55778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検針票をインポート（または手入力）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3246120"/>
            <a:ext cx="54864" cy="329184"/>
          </a:xfrm>
          <a:prstGeom prst="rect">
            <a:avLst/>
          </a:prstGeom>
          <a:solidFill>
            <a:srgbClr val="C9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3575303"/>
            <a:ext cx="566928" cy="566928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900">
                <a:latin typeface="Calibri"/>
              </a:rPr>
              <a:t>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593591"/>
            <a:ext cx="42062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50" b="1">
                <a:solidFill>
                  <a:srgbClr val="1F3864"/>
                </a:solidFill>
                <a:latin typeface="Cambria"/>
              </a:rPr>
              <a:t>機体を入力（任意）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0" y="3593591"/>
            <a:ext cx="55778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室外機の型番・台数で精緻化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1" y="4142231"/>
            <a:ext cx="54864" cy="329184"/>
          </a:xfrm>
          <a:prstGeom prst="rect">
            <a:avLst/>
          </a:prstGeom>
          <a:solidFill>
            <a:srgbClr val="C9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471416"/>
            <a:ext cx="566928" cy="566928"/>
          </a:xfrm>
          <a:prstGeom prst="roundRect">
            <a:avLst/>
          </a:prstGeom>
          <a:solidFill>
            <a:srgbClr val="1F3864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900">
                <a:latin typeface="Calibri"/>
              </a:rPr>
              <a:t>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4489703"/>
            <a:ext cx="42062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50" b="1">
                <a:solidFill>
                  <a:srgbClr val="1F3864"/>
                </a:solidFill>
                <a:latin typeface="Cambria"/>
              </a:rPr>
              <a:t>シミュレーション実行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4489703"/>
            <a:ext cx="55778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ボタンを押すと一括計算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33271" y="5038344"/>
            <a:ext cx="54864" cy="329184"/>
          </a:xfrm>
          <a:prstGeom prst="rect">
            <a:avLst/>
          </a:prstGeom>
          <a:solidFill>
            <a:srgbClr val="C9DA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367527"/>
            <a:ext cx="566928" cy="566928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900">
                <a:latin typeface="Calibri"/>
              </a:rP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5385815"/>
            <a:ext cx="42062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50" b="1">
                <a:solidFill>
                  <a:srgbClr val="1F3864"/>
                </a:solidFill>
                <a:latin typeface="Cambria"/>
              </a:rPr>
              <a:t>結果を確認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52160" y="5385815"/>
            <a:ext cx="5577840" cy="502920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削減額・回収期間・グラフを表示</a:t>
            </a:r>
          </a:p>
        </p:txBody>
      </p:sp>
      <p:pic>
        <p:nvPicPr>
          <p:cNvPr id="24" name="Picture 23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603504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Cambria"/>
              </a:rPr>
              <a:t>📤  出力できる資料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試算結果はそのまま提案・稟議の資料として書き出せます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874519"/>
            <a:ext cx="3429000" cy="2788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143000" y="2167127"/>
            <a:ext cx="822960" cy="82296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700">
                <a:latin typeface="Calibri"/>
              </a:rPr>
              <a:t>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154679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Cambria"/>
              </a:rPr>
              <a:t>Excel 稟議シート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657600"/>
            <a:ext cx="292608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1円差異のない財務対応シート。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稟議・社内承認にそのまま使用可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74519"/>
            <a:ext cx="3429000" cy="2788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846320" y="2167127"/>
            <a:ext cx="822960" cy="82296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700">
                <a:latin typeface="Calibri"/>
              </a:rPr>
              <a:t>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3154679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Cambria"/>
              </a:rPr>
              <a:t>PowerPoint 提案書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657600"/>
            <a:ext cx="292608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自動生成スライド。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顧客提示用にすぐ展開可能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19" y="1874519"/>
            <a:ext cx="3429000" cy="278892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549640" y="2167127"/>
            <a:ext cx="822960" cy="82296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700">
                <a:latin typeface="Calibri"/>
              </a:rPr>
              <a:t>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154679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1">
                <a:solidFill>
                  <a:srgbClr val="1F3864"/>
                </a:solidFill>
                <a:latin typeface="Cambria"/>
              </a:rPr>
              <a:t>結果一覧に保存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49640" y="3657600"/>
            <a:ext cx="2926080" cy="91440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企業名・空調数・年間削減量・</a:t>
            </a:r>
          </a:p>
          <a:p>
            <a:pPr algn="l">
              <a:lnSpc>
                <a:spcPct val="106000"/>
              </a:lnSpc>
              <a:spcAft>
                <a:spcPts val="2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回収年数を一覧で蓄積</a:t>
            </a:r>
          </a:p>
        </p:txBody>
      </p:sp>
      <p:pic>
        <p:nvPicPr>
          <p:cNvPr id="17" name="Picture 16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603504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Cambria"/>
              </a:rPr>
              <a:t>⚙️  各種設定（管理者向け・任意）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固定値の調整はサイドバー「各種設定」から。通常は変更不要です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89611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24128" y="1984248"/>
            <a:ext cx="502920" cy="5029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600">
                <a:latin typeface="Calibri"/>
              </a:rPr>
              <a:t>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783080"/>
            <a:ext cx="338328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計算ロジックの変更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783080"/>
            <a:ext cx="594360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容量削減率・利用料単価・換算係数・力率割引・詳細見積の係数 など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807208"/>
            <a:ext cx="10515600" cy="89611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4128" y="3008376"/>
            <a:ext cx="502920" cy="5029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600">
                <a:latin typeface="Calibri"/>
              </a:rPr>
              <a:t>🏷️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807208"/>
            <a:ext cx="338328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型番→馬力マスタ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80" y="2807208"/>
            <a:ext cx="594360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室外機の型番ごとの馬力・COP・仮置き値の登録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31336"/>
            <a:ext cx="10515600" cy="89611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24128" y="4032504"/>
            <a:ext cx="502920" cy="5029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600">
                <a:latin typeface="Calibri"/>
              </a:rPr>
              <a:t>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831336"/>
            <a:ext cx="338328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業態マスタ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3831336"/>
            <a:ext cx="594360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業態別の空調割合（電力量・ピーク）の調整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855464"/>
            <a:ext cx="10515600" cy="896112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4128" y="5056632"/>
            <a:ext cx="502920" cy="502920"/>
          </a:xfrm>
          <a:prstGeom prst="roundRect">
            <a:avLst/>
          </a:prstGeom>
          <a:solidFill>
            <a:srgbClr val="2E9E5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600">
                <a:latin typeface="Calibri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855464"/>
            <a:ext cx="338328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600" b="1">
                <a:solidFill>
                  <a:srgbClr val="1F3864"/>
                </a:solidFill>
                <a:latin typeface="Cambria"/>
              </a:rPr>
              <a:t>表示設定 / 履歴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4855464"/>
            <a:ext cx="5943600" cy="896112"/>
          </a:xfrm>
          <a:prstGeom prst="rect">
            <a:avLst/>
          </a:prstGeom>
          <a:noFill/>
        </p:spPr>
        <p:txBody>
          <a:bodyPr wrap="square" anchor="ctr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0">
                <a:solidFill>
                  <a:srgbClr val="5A6474"/>
                </a:solidFill>
                <a:latin typeface="Calibri"/>
              </a:rPr>
              <a:t>グラフ表示のON/OFF・変更履歴の確認</a:t>
            </a:r>
          </a:p>
        </p:txBody>
      </p:sp>
      <p:pic>
        <p:nvPicPr>
          <p:cNvPr id="21" name="Picture 20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58368" y="603504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11480"/>
            <a:ext cx="10607040" cy="6400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000" b="1">
                <a:solidFill>
                  <a:srgbClr val="1F3864"/>
                </a:solidFill>
                <a:latin typeface="Cambria"/>
              </a:rPr>
              <a:t>🛟  困ったとき（トラブルシュート）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78992"/>
            <a:ext cx="1060704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400" b="0">
                <a:solidFill>
                  <a:srgbClr val="5A6474"/>
                </a:solidFill>
                <a:latin typeface="Calibri"/>
              </a:rPr>
              <a:t>よくあるつまずきと対処法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868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E9E5B"/>
                </a:solidFill>
                <a:latin typeface="Cambria"/>
              </a:rPr>
              <a:t>Q. </a:t>
            </a:r>
            <a:r>
              <a:rPr sz="1500" b="1">
                <a:solidFill>
                  <a:srgbClr val="1F3864"/>
                </a:solidFill>
                <a:latin typeface="Cambria"/>
              </a:rPr>
              <a:t>「streamlit は認識されません」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240280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5A6474"/>
                </a:solidFill>
                <a:latin typeface="Calibri"/>
              </a:rPr>
              <a:t>A. </a:t>
            </a:r>
            <a:r>
              <a:rPr sz="1350" b="0">
                <a:solidFill>
                  <a:srgbClr val="242C3A"/>
                </a:solidFill>
                <a:latin typeface="Calibri"/>
              </a:rPr>
              <a:t>STEP2 の pip install を再実行（python -m pip install …）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88920"/>
            <a:ext cx="10515600" cy="868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88036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E9E5B"/>
                </a:solidFill>
                <a:latin typeface="Cambria"/>
              </a:rPr>
              <a:t>Q. </a:t>
            </a:r>
            <a:r>
              <a:rPr sz="1500" b="1">
                <a:solidFill>
                  <a:srgbClr val="1F3864"/>
                </a:solidFill>
                <a:latin typeface="Cambria"/>
              </a:rPr>
              <a:t>ブラウザが開かない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46120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5A6474"/>
                </a:solidFill>
                <a:latin typeface="Calibri"/>
              </a:rPr>
              <a:t>A. </a:t>
            </a:r>
            <a:r>
              <a:rPr sz="1350" b="1">
                <a:solidFill>
                  <a:srgbClr val="2E9E5B"/>
                </a:solidFill>
                <a:latin typeface="Cambria"/>
                <a:hlinkClick r:id="rId2"/>
              </a:rPr>
              <a:t>http://localhost:8501 をブラウザに直接入力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794760"/>
            <a:ext cx="10515600" cy="868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88620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E9E5B"/>
                </a:solidFill>
                <a:latin typeface="Cambria"/>
              </a:rPr>
              <a:t>Q. </a:t>
            </a:r>
            <a:r>
              <a:rPr sz="1500" b="1">
                <a:solidFill>
                  <a:srgbClr val="1F3864"/>
                </a:solidFill>
                <a:latin typeface="Cambria"/>
              </a:rPr>
              <a:t>コマンドが動かない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4251960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5A6474"/>
                </a:solidFill>
                <a:latin typeface="Calibri"/>
              </a:rPr>
              <a:t>A. </a:t>
            </a:r>
            <a:r>
              <a:rPr sz="1350" b="0">
                <a:solidFill>
                  <a:srgbClr val="242C3A"/>
                </a:solidFill>
                <a:latin typeface="Calibri"/>
              </a:rPr>
              <a:t>アプリ一式フォルダ内でコマンドを実行しているか確認（cd で移動）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800600"/>
            <a:ext cx="10515600" cy="86868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>
            <a:outerShdw blurRad="110000" dist="40000" dir="5400000" rotWithShape="0">
              <a:srgbClr val="1F3864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892040"/>
            <a:ext cx="1005840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1">
                <a:solidFill>
                  <a:srgbClr val="2E9E5B"/>
                </a:solidFill>
                <a:latin typeface="Cambria"/>
              </a:rPr>
              <a:t>Q. </a:t>
            </a:r>
            <a:r>
              <a:rPr sz="1500" b="1">
                <a:solidFill>
                  <a:srgbClr val="1F3864"/>
                </a:solidFill>
                <a:latin typeface="Cambria"/>
              </a:rPr>
              <a:t>数値に違和感がある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5257800"/>
            <a:ext cx="9966960" cy="36576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350" b="1">
                <a:solidFill>
                  <a:srgbClr val="5A6474"/>
                </a:solidFill>
                <a:latin typeface="Calibri"/>
              </a:rPr>
              <a:t>A. </a:t>
            </a:r>
            <a:r>
              <a:rPr sz="1350" b="0">
                <a:solidFill>
                  <a:srgbClr val="242C3A"/>
                </a:solidFill>
                <a:latin typeface="Calibri"/>
              </a:rPr>
              <a:t>検針票の単価・力率・使用量の入力値を確認（空欄は既定値で補完）</a:t>
            </a:r>
          </a:p>
        </p:txBody>
      </p:sp>
      <p:pic>
        <p:nvPicPr>
          <p:cNvPr id="17" name="Picture 16" descr="company_logo_192x19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8560" y="6327648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2194560"/>
            <a:ext cx="5669280" cy="5669280"/>
          </a:xfrm>
          <a:prstGeom prst="ellipse">
            <a:avLst/>
          </a:prstGeom>
          <a:noFill/>
          <a:ln w="25400">
            <a:solidFill>
              <a:srgbClr val="2A46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" y="1554480"/>
            <a:ext cx="146304" cy="146304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61288" y="1554480"/>
            <a:ext cx="146304" cy="146304"/>
          </a:xfrm>
          <a:prstGeom prst="ellipse">
            <a:avLst/>
          </a:prstGeom>
          <a:solidFill>
            <a:srgbClr val="2A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53895" y="1554480"/>
            <a:ext cx="146304" cy="146304"/>
          </a:xfrm>
          <a:prstGeom prst="ellipse">
            <a:avLst/>
          </a:prstGeom>
          <a:solidFill>
            <a:srgbClr val="2A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746504" y="1554480"/>
            <a:ext cx="146304" cy="146304"/>
          </a:xfrm>
          <a:prstGeom prst="ellipse">
            <a:avLst/>
          </a:prstGeom>
          <a:solidFill>
            <a:srgbClr val="2A46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10972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3800" b="1">
                <a:solidFill>
                  <a:srgbClr val="FFFFFF"/>
                </a:solidFill>
                <a:latin typeface="Cambria"/>
              </a:rPr>
              <a:t>4ステップで、誰でも使えます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3063240"/>
            <a:ext cx="10241280" cy="54864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700" b="0">
                <a:solidFill>
                  <a:srgbClr val="C9DAF5"/>
                </a:solidFill>
                <a:latin typeface="Calibri"/>
              </a:rPr>
              <a:t>インストール → ライブラリ導入 → フォルダ配置 → </a:t>
            </a:r>
            <a:r>
              <a:rPr sz="1700" b="1">
                <a:solidFill>
                  <a:srgbClr val="36C06B"/>
                </a:solidFill>
                <a:latin typeface="Consolas"/>
              </a:rPr>
              <a:t>streamlit run app.py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977639"/>
            <a:ext cx="128016" cy="128016"/>
          </a:xfrm>
          <a:prstGeom prst="ellipse">
            <a:avLst/>
          </a:prstGeom>
          <a:solidFill>
            <a:srgbClr val="36C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858768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C9DAF5"/>
                </a:solidFill>
                <a:latin typeface="Calibri"/>
              </a:rPr>
              <a:t>2回目以降は「フォルダへ移動 → 起動コマンド」だけ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80559"/>
            <a:ext cx="128016" cy="128016"/>
          </a:xfrm>
          <a:prstGeom prst="ellipse">
            <a:avLst/>
          </a:prstGeom>
          <a:solidFill>
            <a:srgbClr val="36C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61688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C9DAF5"/>
                </a:solidFill>
                <a:latin typeface="Calibri"/>
              </a:rPr>
              <a:t>アプリ一式フォルダは管理者から別途共有されます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983479"/>
            <a:ext cx="128016" cy="128016"/>
          </a:xfrm>
          <a:prstGeom prst="ellipse">
            <a:avLst/>
          </a:prstGeom>
          <a:solidFill>
            <a:srgbClr val="36C0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4864608"/>
            <a:ext cx="10058400" cy="411480"/>
          </a:xfrm>
          <a:prstGeom prst="rect">
            <a:avLst/>
          </a:prstGeom>
          <a:noFill/>
        </p:spPr>
        <p:txBody>
          <a:bodyPr wrap="square" anchor="t" lIns="36576" rIns="36576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400"/>
              </a:spcAft>
            </a:pPr>
            <a:r>
              <a:rPr sz="1500" b="0">
                <a:solidFill>
                  <a:srgbClr val="C9DAF5"/>
                </a:solidFill>
                <a:latin typeface="Calibri"/>
              </a:rPr>
              <a:t>困ったときは本マニュアルのトラブルシュートを参照</a:t>
            </a:r>
          </a:p>
        </p:txBody>
      </p:sp>
      <p:pic>
        <p:nvPicPr>
          <p:cNvPr id="15" name="Picture 14" descr="company_logo_192x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1320" y="5943600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