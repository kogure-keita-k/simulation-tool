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Yu Gothic"/>
              </a:defRPr>
            </a:pPr>
            <a:r>
              <a:t>DPS 空調デマンド制御</a:t>
            </a:r>
            <a:br/>
            <a:r>
              <a:t>試算アプリ 操作マニュアル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794760"/>
            <a:ext cx="2011680" cy="82296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69080"/>
            <a:ext cx="1033272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500" b="0">
                <a:solidFill>
                  <a:srgbClr val="CBDAF0"/>
                </a:solidFill>
                <a:latin typeface="Yu Gothic"/>
              </a:defRPr>
            </a:pPr>
            <a:r>
              <a:t>検針票から試算・提案書・見積・削減レポ・請求書までを1つで。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0">
                <a:solidFill>
                  <a:srgbClr val="9FB2CE"/>
                </a:solidFill>
                <a:latin typeface="Yu Gothic"/>
              </a:defRPr>
            </a:pPr>
            <a:r>
              <a:t>株式会社シムックスイニシアティブ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18872" cy="457200"/>
          </a:xfrm>
          <a:prstGeom prst="roundRect">
            <a:avLst/>
          </a:prstGeom>
          <a:solidFill>
            <a:srgbClr val="13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384" y="411480"/>
            <a:ext cx="118872" cy="4572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84048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defRPr sz="2400" b="1">
                <a:solidFill>
                  <a:srgbClr val="13335C"/>
                </a:solidFill>
                <a:latin typeface="Yu Gothic"/>
              </a:defRPr>
            </a:pPr>
            <a:r>
              <a:t>目次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883664"/>
            <a:ext cx="128016" cy="128016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10058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500" b="0">
                <a:solidFill>
                  <a:srgbClr val="13335C"/>
                </a:solidFill>
                <a:latin typeface="Yu Gothic"/>
              </a:defRPr>
            </a:pPr>
            <a:r>
              <a:t>1. 最低限の操作フロー（まずはこれだけ）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359152"/>
            <a:ext cx="128016" cy="128016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04288"/>
            <a:ext cx="10058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500" b="0">
                <a:solidFill>
                  <a:srgbClr val="13335C"/>
                </a:solidFill>
                <a:latin typeface="Yu Gothic"/>
              </a:defRPr>
            </a:pPr>
            <a:r>
              <a:t>2. 画面①：試算入力（サイドバー）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34640"/>
            <a:ext cx="128016" cy="128016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779776"/>
            <a:ext cx="10058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500" b="0">
                <a:solidFill>
                  <a:srgbClr val="13335C"/>
                </a:solidFill>
                <a:latin typeface="Yu Gothic"/>
              </a:defRPr>
            </a:pPr>
            <a:r>
              <a:t>3. 画面②：結果ダッシュボード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310128"/>
            <a:ext cx="128016" cy="128016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255264"/>
            <a:ext cx="10058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500" b="0">
                <a:solidFill>
                  <a:srgbClr val="13335C"/>
                </a:solidFill>
                <a:latin typeface="Yu Gothic"/>
              </a:defRPr>
            </a:pPr>
            <a:r>
              <a:t>4. 概算モードの使い方（機材情報が無いとき）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785615"/>
            <a:ext cx="128016" cy="128016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730752"/>
            <a:ext cx="10058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500" b="0">
                <a:solidFill>
                  <a:srgbClr val="13335C"/>
                </a:solidFill>
                <a:latin typeface="Yu Gothic"/>
              </a:defRPr>
            </a:pPr>
            <a:r>
              <a:t>5. 画面③：各種設定（管理画面）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261103"/>
            <a:ext cx="128016" cy="128016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206240"/>
            <a:ext cx="10058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500" b="0">
                <a:solidFill>
                  <a:srgbClr val="13335C"/>
                </a:solidFill>
                <a:latin typeface="Yu Gothic"/>
              </a:defRPr>
            </a:pPr>
            <a:r>
              <a:t>6. 画面④：見積書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736591"/>
            <a:ext cx="128016" cy="128016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681727"/>
            <a:ext cx="10058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500" b="0">
                <a:solidFill>
                  <a:srgbClr val="13335C"/>
                </a:solidFill>
                <a:latin typeface="Yu Gothic"/>
              </a:defRPr>
            </a:pPr>
            <a:r>
              <a:t>7. 画面⑤：削減レポ（削減実績報告書）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5212079"/>
            <a:ext cx="128016" cy="128016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157215"/>
            <a:ext cx="10058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500" b="0">
                <a:solidFill>
                  <a:srgbClr val="13335C"/>
                </a:solidFill>
                <a:latin typeface="Yu Gothic"/>
              </a:defRPr>
            </a:pPr>
            <a:r>
              <a:t>8. 画面⑥：請求書（成果報酬型）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5687567"/>
            <a:ext cx="128016" cy="128016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632703"/>
            <a:ext cx="10058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500" b="0">
                <a:solidFill>
                  <a:srgbClr val="13335C"/>
                </a:solidFill>
                <a:latin typeface="Yu Gothic"/>
              </a:defRPr>
            </a:pPr>
            <a:r>
              <a:t>9. 出力ファイルの種類 / 困ったとき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55664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335C"/>
                </a:solidFill>
                <a:latin typeface="Yu Gothic"/>
              </a:defRPr>
            </a:pPr>
            <a:r>
              <a:t>P.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18872" cy="457200"/>
          </a:xfrm>
          <a:prstGeom prst="roundRect">
            <a:avLst/>
          </a:prstGeom>
          <a:solidFill>
            <a:srgbClr val="13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384" y="411480"/>
            <a:ext cx="118872" cy="4572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84048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defRPr sz="2400" b="1">
                <a:solidFill>
                  <a:srgbClr val="13335C"/>
                </a:solidFill>
                <a:latin typeface="Yu Gothic"/>
              </a:defRPr>
            </a:pPr>
            <a:r>
              <a:t>1. 最低限の操作フロー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051560"/>
            <a:ext cx="105156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50" b="0">
                <a:solidFill>
                  <a:srgbClr val="606670"/>
                </a:solidFill>
                <a:latin typeface="Yu Gothic"/>
              </a:defRPr>
            </a:pPr>
            <a:r>
              <a:t>まずはこの5ステップ。詳細は各画面のページを参照してください。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962851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1465" y="2286000"/>
            <a:ext cx="640080" cy="64008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1688531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400" b="1">
                <a:solidFill>
                  <a:srgbClr val="13335C"/>
                </a:solidFill>
                <a:latin typeface="Yu Gothic"/>
              </a:defRPr>
            </a:pPr>
            <a:r>
              <a:t>検針票を取込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657600"/>
            <a:ext cx="1597091" cy="1463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050" b="0">
                <a:solidFill>
                  <a:srgbClr val="606670"/>
                </a:solidFill>
                <a:latin typeface="Yu Gothic"/>
              </a:defRPr>
            </a:pPr>
            <a:r>
              <a:t>サイドバー『検針票データ』でUpload。無ければ『サンプル値代入』／『テンプレDL』。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21219" y="3538728"/>
            <a:ext cx="237744" cy="237744"/>
          </a:xfrm>
          <a:prstGeom prst="rightArrow">
            <a:avLst/>
          </a:prstGeom>
          <a:solidFill>
            <a:srgbClr val="13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77251" y="2011680"/>
            <a:ext cx="1962851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38636" y="2286000"/>
            <a:ext cx="640080" cy="64008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4411" y="3063240"/>
            <a:ext cx="1688531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400" b="1">
                <a:solidFill>
                  <a:srgbClr val="13335C"/>
                </a:solidFill>
                <a:latin typeface="Yu Gothic"/>
              </a:defRPr>
            </a:pPr>
            <a:r>
              <a:t>顧客名・業態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0131" y="3657600"/>
            <a:ext cx="1597091" cy="1463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050" b="0">
                <a:solidFill>
                  <a:srgbClr val="606670"/>
                </a:solidFill>
                <a:latin typeface="Yu Gothic"/>
              </a:defRPr>
            </a:pPr>
            <a:r>
              <a:t>『顧客情報』で顧客名（御中）と業態を選択（空調比率に使用）。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58390" y="3538728"/>
            <a:ext cx="237744" cy="237744"/>
          </a:xfrm>
          <a:prstGeom prst="rightArrow">
            <a:avLst/>
          </a:prstGeom>
          <a:solidFill>
            <a:srgbClr val="13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14422" y="2011680"/>
            <a:ext cx="1962851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5807" y="2286000"/>
            <a:ext cx="640080" cy="64008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1582" y="3063240"/>
            <a:ext cx="1688531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400" b="1">
                <a:solidFill>
                  <a:srgbClr val="13335C"/>
                </a:solidFill>
                <a:latin typeface="Yu Gothic"/>
              </a:defRPr>
            </a:pPr>
            <a:r>
              <a:t>室外機の台数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7302" y="3657600"/>
            <a:ext cx="1597091" cy="1463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050" b="0">
                <a:solidFill>
                  <a:srgbClr val="606670"/>
                </a:solidFill>
                <a:latin typeface="Yu Gothic"/>
              </a:defRPr>
            </a:pPr>
            <a:r>
              <a:t>『室外機情報』で総台数・制御台数を入力。機材情報が無ければ『概算する』をON。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95561" y="3538728"/>
            <a:ext cx="237744" cy="237744"/>
          </a:xfrm>
          <a:prstGeom prst="rightArrow">
            <a:avLst/>
          </a:prstGeom>
          <a:solidFill>
            <a:srgbClr val="13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51593" y="2011680"/>
            <a:ext cx="1962851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12978" y="2286000"/>
            <a:ext cx="640080" cy="64008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753" y="3063240"/>
            <a:ext cx="1688531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400" b="1">
                <a:solidFill>
                  <a:srgbClr val="13335C"/>
                </a:solidFill>
                <a:latin typeface="Yu Gothic"/>
              </a:defRPr>
            </a:pPr>
            <a:r>
              <a:t>初期費用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473" y="3657600"/>
            <a:ext cx="1597091" cy="1463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050" b="0">
                <a:solidFill>
                  <a:srgbClr val="606670"/>
                </a:solidFill>
                <a:latin typeface="Yu Gothic"/>
              </a:defRPr>
            </a:pPr>
            <a:r>
              <a:t>材料費・工事費・HW・構築費を入力。概算モードなら標準単価で自動。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32732" y="3538728"/>
            <a:ext cx="237744" cy="237744"/>
          </a:xfrm>
          <a:prstGeom prst="rightArrow">
            <a:avLst/>
          </a:prstGeom>
          <a:solidFill>
            <a:srgbClr val="13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88764" y="2011680"/>
            <a:ext cx="1962851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50149" y="2286000"/>
            <a:ext cx="640080" cy="64008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Yu Gothic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5924" y="3063240"/>
            <a:ext cx="1688531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400" b="1">
                <a:solidFill>
                  <a:srgbClr val="13335C"/>
                </a:solidFill>
                <a:latin typeface="Yu Gothic"/>
              </a:defRPr>
            </a:pPr>
            <a:r>
              <a:t>試算実行→確認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71644" y="3657600"/>
            <a:ext cx="1597091" cy="1463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defRPr sz="1050" b="0">
                <a:solidFill>
                  <a:srgbClr val="606670"/>
                </a:solidFill>
                <a:latin typeface="Yu Gothic"/>
              </a:defRPr>
            </a:pPr>
            <a:r>
              <a:t>『試算実行』→結果ダッシュボードでKPI・グラフ確認、提案書PPTX等を出力。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000" b="0">
                <a:solidFill>
                  <a:srgbClr val="606670"/>
                </a:solidFill>
                <a:latin typeface="Yu Gothic"/>
              </a:defRPr>
            </a:pPr>
            <a:r>
              <a:t>※ 結果は『結果一覧に保存』でき、削減レポ・請求書で再利用できます。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55664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335C"/>
                </a:solidFill>
                <a:latin typeface="Yu Gothic"/>
              </a:defRPr>
            </a:pPr>
            <a:r>
              <a:t>P.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18872" cy="457200"/>
          </a:xfrm>
          <a:prstGeom prst="roundRect">
            <a:avLst/>
          </a:prstGeom>
          <a:solidFill>
            <a:srgbClr val="13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384" y="411480"/>
            <a:ext cx="118872" cy="4572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84048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defRPr sz="2400" b="1">
                <a:solidFill>
                  <a:srgbClr val="13335C"/>
                </a:solidFill>
                <a:latin typeface="Yu Gothic"/>
              </a:defRPr>
            </a:pPr>
            <a:r>
              <a:t>2. 画面①：試算入力（サイドバー）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051560"/>
            <a:ext cx="105156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50" b="0">
                <a:solidFill>
                  <a:srgbClr val="606670"/>
                </a:solidFill>
                <a:latin typeface="Yu Gothic"/>
              </a:defRPr>
            </a:pPr>
            <a:r>
              <a:t>アプリ左側のサイドバーで、試算に必要な情報を入力します。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675120" cy="429768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60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20439"/>
            <a:ext cx="6126480" cy="9144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defRPr sz="1400" b="1">
                <a:solidFill>
                  <a:srgbClr val="606670"/>
                </a:solidFill>
                <a:latin typeface="Yu Gothic"/>
              </a:defRPr>
            </a:pPr>
            <a:r>
              <a:t>▼ ここに『試算入力（サイドバー）』の</a:t>
            </a:r>
            <a:br/>
            <a:r>
              <a:t>スクリーンショットを貼り付け</a:t>
            </a:r>
            <a:br/>
            <a:r>
              <a:t>（右の番号バッジを該当箇所へドラッグ）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9659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4231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8803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3375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7947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5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2519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6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47091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7</a:t>
            </a:r>
          </a:p>
        </p:txBody>
      </p:sp>
      <p:sp>
        <p:nvSpPr>
          <p:cNvPr id="15" name="Oval 14"/>
          <p:cNvSpPr/>
          <p:nvPr/>
        </p:nvSpPr>
        <p:spPr>
          <a:xfrm>
            <a:off x="7543800" y="1783080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1764792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メニュー / ナビ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2039112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見積書・削減レポ・結果一覧・各種設定へ移動するボタン。</a:t>
            </a:r>
          </a:p>
        </p:txBody>
      </p:sp>
      <p:sp>
        <p:nvSpPr>
          <p:cNvPr id="18" name="Oval 17"/>
          <p:cNvSpPr/>
          <p:nvPr/>
        </p:nvSpPr>
        <p:spPr>
          <a:xfrm>
            <a:off x="7543800" y="2404872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2386584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顧客情報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2660904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顧客名（御中）と業態を選択。業態は空調比率の想定に使います。</a:t>
            </a:r>
          </a:p>
        </p:txBody>
      </p:sp>
      <p:sp>
        <p:nvSpPr>
          <p:cNvPr id="21" name="Oval 20"/>
          <p:cNvSpPr/>
          <p:nvPr/>
        </p:nvSpPr>
        <p:spPr>
          <a:xfrm>
            <a:off x="7543800" y="3026664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3008376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検針票データ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3282696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Upload（CSV/Excel）／サンプル値代入／テンプレDL。12ヶ月の使用量・最大デマンド・単価を取込。</a:t>
            </a:r>
          </a:p>
        </p:txBody>
      </p:sp>
      <p:sp>
        <p:nvSpPr>
          <p:cNvPr id="24" name="Oval 23"/>
          <p:cNvSpPr/>
          <p:nvPr/>
        </p:nvSpPr>
        <p:spPr>
          <a:xfrm>
            <a:off x="7543800" y="3648456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3630168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室外機情報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7848" y="3904488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総台数・制御対象台数を入力。機材情報が無い場合は『概算する』トグルON（次頁）。</a:t>
            </a:r>
          </a:p>
        </p:txBody>
      </p:sp>
      <p:sp>
        <p:nvSpPr>
          <p:cNvPr id="27" name="Oval 26"/>
          <p:cNvSpPr/>
          <p:nvPr/>
        </p:nvSpPr>
        <p:spPr>
          <a:xfrm>
            <a:off x="7543800" y="4270248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7848" y="4251960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初期費用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7848" y="4526280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材料費・工事費・ハードウェア費・構築費を入力（概算モードは標準単価で自動）。</a:t>
            </a:r>
          </a:p>
        </p:txBody>
      </p:sp>
      <p:sp>
        <p:nvSpPr>
          <p:cNvPr id="30" name="Oval 29"/>
          <p:cNvSpPr/>
          <p:nvPr/>
        </p:nvSpPr>
        <p:spPr>
          <a:xfrm>
            <a:off x="7543800" y="4892040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7848" y="4873752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算出オプション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7848" y="5148072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季節性・業態配慮のトグル（必要な場合のみ）。</a:t>
            </a:r>
          </a:p>
        </p:txBody>
      </p:sp>
      <p:sp>
        <p:nvSpPr>
          <p:cNvPr id="33" name="Oval 32"/>
          <p:cNvSpPr/>
          <p:nvPr/>
        </p:nvSpPr>
        <p:spPr>
          <a:xfrm>
            <a:off x="7543800" y="5513831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7848" y="5495544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試算実行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27848" y="5769864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入力後このボタンで計算 → 結果ダッシュボードへ。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6263640"/>
            <a:ext cx="6675120" cy="384048"/>
          </a:xfrm>
          <a:prstGeom prst="roundRect">
            <a:avLst/>
          </a:prstGeom>
          <a:solidFill>
            <a:srgbClr val="E6F2E9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050" b="1">
                <a:solidFill>
                  <a:srgbClr val="1E6B3B"/>
                </a:solidFill>
                <a:latin typeface="Yu Gothic"/>
              </a:defRPr>
            </a:pPr>
            <a:r>
              <a:t>★ 最低限：② 顧客名・業態 ／ ③ 検針票 ／ ④ 台数 ／ ⑦ 試算実行。この4つだけで試算できます。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55664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335C"/>
                </a:solidFill>
                <a:latin typeface="Yu Gothic"/>
              </a:defRPr>
            </a:pPr>
            <a:r>
              <a:t>P.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18872" cy="457200"/>
          </a:xfrm>
          <a:prstGeom prst="roundRect">
            <a:avLst/>
          </a:prstGeom>
          <a:solidFill>
            <a:srgbClr val="13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384" y="411480"/>
            <a:ext cx="118872" cy="4572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84048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defRPr sz="2400" b="1">
                <a:solidFill>
                  <a:srgbClr val="13335C"/>
                </a:solidFill>
                <a:latin typeface="Yu Gothic"/>
              </a:defRPr>
            </a:pPr>
            <a:r>
              <a:t>3. 画面②：結果ダッシュボード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051560"/>
            <a:ext cx="105156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50" b="0">
                <a:solidFill>
                  <a:srgbClr val="606670"/>
                </a:solidFill>
                <a:latin typeface="Yu Gothic"/>
              </a:defRPr>
            </a:pPr>
            <a:r>
              <a:t>試算結果の確認と、提案書・試算表などの出力を行います。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675120" cy="429768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60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20439"/>
            <a:ext cx="6126480" cy="9144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defRPr sz="1400" b="1">
                <a:solidFill>
                  <a:srgbClr val="606670"/>
                </a:solidFill>
                <a:latin typeface="Yu Gothic"/>
              </a:defRPr>
            </a:pPr>
            <a:r>
              <a:t>▼ ここに『結果ダッシュボード』の</a:t>
            </a:r>
            <a:br/>
            <a:r>
              <a:t>スクリーンショットを貼り付け</a:t>
            </a:r>
            <a:br/>
            <a:r>
              <a:t>（右の番号バッジを該当箇所へドラッグ）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9659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4231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8803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3375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7947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5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2519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6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47091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7</a:t>
            </a:r>
          </a:p>
        </p:txBody>
      </p:sp>
      <p:sp>
        <p:nvSpPr>
          <p:cNvPr id="15" name="Oval 14"/>
          <p:cNvSpPr/>
          <p:nvPr/>
        </p:nvSpPr>
        <p:spPr>
          <a:xfrm>
            <a:off x="7543800" y="1783080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1764792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入力整合性チェック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2039112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入力の警告・注意を表示（要確認があれば展開）。</a:t>
            </a:r>
          </a:p>
        </p:txBody>
      </p:sp>
      <p:sp>
        <p:nvSpPr>
          <p:cNvPr id="18" name="Oval 17"/>
          <p:cNvSpPr/>
          <p:nvPr/>
        </p:nvSpPr>
        <p:spPr>
          <a:xfrm>
            <a:off x="7543800" y="2404872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2386584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算出前提の注釈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2660904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概算・業態標準値などの仮置き前提を明示。</a:t>
            </a:r>
          </a:p>
        </p:txBody>
      </p:sp>
      <p:sp>
        <p:nvSpPr>
          <p:cNvPr id="21" name="Oval 20"/>
          <p:cNvSpPr/>
          <p:nvPr/>
        </p:nvSpPr>
        <p:spPr>
          <a:xfrm>
            <a:off x="7543800" y="3026664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3008376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概算3シナリオ比較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3282696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概算モード時のみ。ベスト／標準／保守の3案を並べて確認。</a:t>
            </a:r>
          </a:p>
        </p:txBody>
      </p:sp>
      <p:sp>
        <p:nvSpPr>
          <p:cNvPr id="24" name="Oval 23"/>
          <p:cNvSpPr/>
          <p:nvPr/>
        </p:nvSpPr>
        <p:spPr>
          <a:xfrm>
            <a:off x="7543800" y="3648456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3630168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KPI ×4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7848" y="3904488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初期費用・投資回収期間・年間削減額・10年累計。</a:t>
            </a:r>
          </a:p>
        </p:txBody>
      </p:sp>
      <p:sp>
        <p:nvSpPr>
          <p:cNvPr id="27" name="Oval 26"/>
          <p:cNvSpPr/>
          <p:nvPr/>
        </p:nvSpPr>
        <p:spPr>
          <a:xfrm>
            <a:off x="7543800" y="4270248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7848" y="4251960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グラフ・分析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7848" y="4526280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月別削減・デマンド推移などのグラフ。</a:t>
            </a:r>
          </a:p>
        </p:txBody>
      </p:sp>
      <p:sp>
        <p:nvSpPr>
          <p:cNvPr id="30" name="Oval 29"/>
          <p:cNvSpPr/>
          <p:nvPr/>
        </p:nvSpPr>
        <p:spPr>
          <a:xfrm>
            <a:off x="7543800" y="4892040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7848" y="4873752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ダウンロード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7848" y="5148072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提案書PPTX／試算XLSX／『結果一覧に保存』。</a:t>
            </a:r>
          </a:p>
        </p:txBody>
      </p:sp>
      <p:sp>
        <p:nvSpPr>
          <p:cNvPr id="33" name="Oval 32"/>
          <p:cNvSpPr/>
          <p:nvPr/>
        </p:nvSpPr>
        <p:spPr>
          <a:xfrm>
            <a:off x="7543800" y="5513831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7848" y="5495544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画像出力（PNG）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27848" y="5769864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スライド貼付用の画像を個別に出力。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6263640"/>
            <a:ext cx="6675120" cy="384048"/>
          </a:xfrm>
          <a:prstGeom prst="roundRect">
            <a:avLst/>
          </a:prstGeom>
          <a:solidFill>
            <a:srgbClr val="E6F2E9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050" b="1">
                <a:solidFill>
                  <a:srgbClr val="1E6B3B"/>
                </a:solidFill>
                <a:latin typeface="Yu Gothic"/>
              </a:defRPr>
            </a:pPr>
            <a:r>
              <a:t>★ 最低限：⑥ ダウンロードから提案書PPTX・試算XLSXを出力。『結果一覧に保存』で後日再利用。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55664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335C"/>
                </a:solidFill>
                <a:latin typeface="Yu Gothic"/>
              </a:defRPr>
            </a:pPr>
            <a:r>
              <a:t>P.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18872" cy="457200"/>
          </a:xfrm>
          <a:prstGeom prst="roundRect">
            <a:avLst/>
          </a:prstGeom>
          <a:solidFill>
            <a:srgbClr val="13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384" y="411480"/>
            <a:ext cx="118872" cy="4572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84048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defRPr sz="2400" b="1">
                <a:solidFill>
                  <a:srgbClr val="13335C"/>
                </a:solidFill>
                <a:latin typeface="Yu Gothic"/>
              </a:defRPr>
            </a:pPr>
            <a:r>
              <a:t>4. 概算モードの使い方（機材情報が無いとき）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051560"/>
            <a:ext cx="105156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50" b="0">
                <a:solidFill>
                  <a:srgbClr val="606670"/>
                </a:solidFill>
                <a:latin typeface="Yu Gothic"/>
              </a:defRPr>
            </a:pPr>
            <a:r>
              <a:t>室外機・機材情報が無くても、検針票と業態標準値から概算できます。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675120" cy="429768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60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20439"/>
            <a:ext cx="6126480" cy="9144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defRPr sz="1400" b="1">
                <a:solidFill>
                  <a:srgbClr val="606670"/>
                </a:solidFill>
                <a:latin typeface="Yu Gothic"/>
              </a:defRPr>
            </a:pPr>
            <a:r>
              <a:t>▼ ここに『概算モード（室外機情報＋結果）』の</a:t>
            </a:r>
            <a:br/>
            <a:r>
              <a:t>スクリーンショットを貼り付け</a:t>
            </a:r>
            <a:br/>
            <a:r>
              <a:t>（右の番号バッジを該当箇所へドラッグ）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9659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4231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8803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3375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7947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5</a:t>
            </a:r>
          </a:p>
        </p:txBody>
      </p:sp>
      <p:sp>
        <p:nvSpPr>
          <p:cNvPr id="13" name="Oval 12"/>
          <p:cNvSpPr/>
          <p:nvPr/>
        </p:nvSpPr>
        <p:spPr>
          <a:xfrm>
            <a:off x="7543800" y="1783080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1764792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概算トグル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7848" y="2039112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『室外機情報』の『機材情報なし→検針票から概算する』をON。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2404872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2386584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台数の自動推定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2660904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最大デマンド×業態空調比率÷標準室外機kWで台数を推定（調整可）。</a:t>
            </a:r>
          </a:p>
        </p:txBody>
      </p:sp>
      <p:sp>
        <p:nvSpPr>
          <p:cNvPr id="19" name="Oval 18"/>
          <p:cNvSpPr/>
          <p:nvPr/>
        </p:nvSpPr>
        <p:spPr>
          <a:xfrm>
            <a:off x="7543800" y="3026664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3008376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初期費用も概算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3282696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材料費・工事費・HW費を標準単価×台数で自動算出。</a:t>
            </a:r>
          </a:p>
        </p:txBody>
      </p:sp>
      <p:sp>
        <p:nvSpPr>
          <p:cNvPr id="22" name="Oval 21"/>
          <p:cNvSpPr/>
          <p:nvPr/>
        </p:nvSpPr>
        <p:spPr>
          <a:xfrm>
            <a:off x="7543800" y="3648456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3630168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3シナリオ比較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3904488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結果画面でベスト／標準／保守の幅を確認。</a:t>
            </a:r>
          </a:p>
        </p:txBody>
      </p:sp>
      <p:sp>
        <p:nvSpPr>
          <p:cNvPr id="25" name="Oval 24"/>
          <p:cNvSpPr/>
          <p:nvPr/>
        </p:nvSpPr>
        <p:spPr>
          <a:xfrm>
            <a:off x="7543800" y="4270248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7848" y="4251960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資料の注記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7848" y="4526280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提案書には概算注記＋概算説明ページが自動で入ります。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6263640"/>
            <a:ext cx="6675120" cy="384048"/>
          </a:xfrm>
          <a:prstGeom prst="roundRect">
            <a:avLst/>
          </a:prstGeom>
          <a:solidFill>
            <a:srgbClr val="E6F2E9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050" b="1">
                <a:solidFill>
                  <a:srgbClr val="1E6B3B"/>
                </a:solidFill>
                <a:latin typeface="Yu Gothic"/>
              </a:defRPr>
            </a:pPr>
            <a:r>
              <a:t>★ 最低限：トグルONにするだけ。単価・標準室外機kWは『各種設定→計算ロジック変更』で調整可。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55664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335C"/>
                </a:solidFill>
                <a:latin typeface="Yu Gothic"/>
              </a:defRPr>
            </a:pPr>
            <a:r>
              <a:t>P.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18872" cy="457200"/>
          </a:xfrm>
          <a:prstGeom prst="roundRect">
            <a:avLst/>
          </a:prstGeom>
          <a:solidFill>
            <a:srgbClr val="13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384" y="411480"/>
            <a:ext cx="118872" cy="4572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84048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defRPr sz="2400" b="1">
                <a:solidFill>
                  <a:srgbClr val="13335C"/>
                </a:solidFill>
                <a:latin typeface="Yu Gothic"/>
              </a:defRPr>
            </a:pPr>
            <a:r>
              <a:t>5. 画面③：各種設定（管理画面）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051560"/>
            <a:ext cx="105156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50" b="0">
                <a:solidFill>
                  <a:srgbClr val="606670"/>
                </a:solidFill>
                <a:latin typeface="Yu Gothic"/>
              </a:defRPr>
            </a:pPr>
            <a:r>
              <a:t>計算に使う単価・係数・マスタを管理します（通常は初期値のままでOK）。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675120" cy="429768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60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20439"/>
            <a:ext cx="6126480" cy="9144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defRPr sz="1400" b="1">
                <a:solidFill>
                  <a:srgbClr val="606670"/>
                </a:solidFill>
                <a:latin typeface="Yu Gothic"/>
              </a:defRPr>
            </a:pPr>
            <a:r>
              <a:t>▼ ここに『各種設定（管理画面）』の</a:t>
            </a:r>
            <a:br/>
            <a:r>
              <a:t>スクリーンショットを貼り付け</a:t>
            </a:r>
            <a:br/>
            <a:r>
              <a:t>（右の番号バッジを該当箇所へドラッグ）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9659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4231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8803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3375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7947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5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2519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6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47091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7</a:t>
            </a:r>
          </a:p>
        </p:txBody>
      </p:sp>
      <p:sp>
        <p:nvSpPr>
          <p:cNvPr id="15" name="Oval 14"/>
          <p:cNvSpPr/>
          <p:nvPr/>
        </p:nvSpPr>
        <p:spPr>
          <a:xfrm>
            <a:off x="7543800" y="1783080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1764792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計算ロジック変更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2039112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容量削減率・各種固定値・概算マスタ（標準室外機kW／機材費／HW費など）。</a:t>
            </a:r>
          </a:p>
        </p:txBody>
      </p:sp>
      <p:sp>
        <p:nvSpPr>
          <p:cNvPr id="18" name="Oval 17"/>
          <p:cNvSpPr/>
          <p:nvPr/>
        </p:nvSpPr>
        <p:spPr>
          <a:xfrm>
            <a:off x="7543800" y="2404872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2386584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機材単価マスタ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2660904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見積の機材費に使う単価。</a:t>
            </a:r>
          </a:p>
        </p:txBody>
      </p:sp>
      <p:sp>
        <p:nvSpPr>
          <p:cNvPr id="21" name="Oval 20"/>
          <p:cNvSpPr/>
          <p:nvPr/>
        </p:nvSpPr>
        <p:spPr>
          <a:xfrm>
            <a:off x="7543800" y="3026664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3008376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馬力・機材テーブル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3282696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型番→定格などの対応。</a:t>
            </a:r>
          </a:p>
        </p:txBody>
      </p:sp>
      <p:sp>
        <p:nvSpPr>
          <p:cNvPr id="24" name="Oval 23"/>
          <p:cNvSpPr/>
          <p:nvPr/>
        </p:nvSpPr>
        <p:spPr>
          <a:xfrm>
            <a:off x="7543800" y="3648456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3630168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業態マスタ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7848" y="3904488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業態ごとの空調比率（ピーク／使用量）。</a:t>
            </a:r>
          </a:p>
        </p:txBody>
      </p:sp>
      <p:sp>
        <p:nvSpPr>
          <p:cNvPr id="27" name="Oval 26"/>
          <p:cNvSpPr/>
          <p:nvPr/>
        </p:nvSpPr>
        <p:spPr>
          <a:xfrm>
            <a:off x="7543800" y="4270248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7848" y="4251960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表示項目変更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7848" y="4526280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画面・出力の表示切替。</a:t>
            </a:r>
          </a:p>
        </p:txBody>
      </p:sp>
      <p:sp>
        <p:nvSpPr>
          <p:cNvPr id="30" name="Oval 29"/>
          <p:cNvSpPr/>
          <p:nvPr/>
        </p:nvSpPr>
        <p:spPr>
          <a:xfrm>
            <a:off x="7543800" y="4892040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7848" y="4873752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履歴ログ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7848" y="5148072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変更・ダウンロード履歴。</a:t>
            </a:r>
          </a:p>
        </p:txBody>
      </p:sp>
      <p:sp>
        <p:nvSpPr>
          <p:cNvPr id="33" name="Oval 32"/>
          <p:cNvSpPr/>
          <p:nvPr/>
        </p:nvSpPr>
        <p:spPr>
          <a:xfrm>
            <a:off x="7543800" y="5513831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7848" y="5495544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画像出力（手動値）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27848" y="5769864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任意の数値で画像を生成。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55664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335C"/>
                </a:solidFill>
                <a:latin typeface="Yu Gothic"/>
              </a:defRPr>
            </a:pPr>
            <a:r>
              <a:t>P.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18872" cy="457200"/>
          </a:xfrm>
          <a:prstGeom prst="roundRect">
            <a:avLst/>
          </a:prstGeom>
          <a:solidFill>
            <a:srgbClr val="13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384" y="411480"/>
            <a:ext cx="118872" cy="4572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84048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defRPr sz="2400" b="1">
                <a:solidFill>
                  <a:srgbClr val="13335C"/>
                </a:solidFill>
                <a:latin typeface="Yu Gothic"/>
              </a:defRPr>
            </a:pPr>
            <a:r>
              <a:t>6. 画面④：見積書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051560"/>
            <a:ext cx="105156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50" b="0">
                <a:solidFill>
                  <a:srgbClr val="606670"/>
                </a:solidFill>
                <a:latin typeface="Yu Gothic"/>
              </a:defRPr>
            </a:pPr>
            <a:r>
              <a:t>機材・工事の見積書を作成し、PDF / Excel で出力します。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675120" cy="429768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60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20439"/>
            <a:ext cx="6126480" cy="9144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defRPr sz="1400" b="1">
                <a:solidFill>
                  <a:srgbClr val="606670"/>
                </a:solidFill>
                <a:latin typeface="Yu Gothic"/>
              </a:defRPr>
            </a:pPr>
            <a:r>
              <a:t>▼ ここに『見積書』の</a:t>
            </a:r>
            <a:br/>
            <a:r>
              <a:t>スクリーンショットを貼り付け</a:t>
            </a:r>
            <a:br/>
            <a:r>
              <a:t>（右の番号バッジを該当箇所へドラッグ）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9659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4231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8803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3375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1783080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8" y="1764792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件名・宛先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039112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件名・宛先（御中）・担当・書類番号など。</a:t>
            </a:r>
          </a:p>
        </p:txBody>
      </p:sp>
      <p:sp>
        <p:nvSpPr>
          <p:cNvPr id="15" name="Oval 14"/>
          <p:cNvSpPr/>
          <p:nvPr/>
        </p:nvSpPr>
        <p:spPr>
          <a:xfrm>
            <a:off x="7543800" y="2404872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2386584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明細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2660904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機材・工事・ハードウェアの明細（単価はマスタ引用）。</a:t>
            </a:r>
          </a:p>
        </p:txBody>
      </p:sp>
      <p:sp>
        <p:nvSpPr>
          <p:cNvPr id="18" name="Oval 17"/>
          <p:cNvSpPr/>
          <p:nvPr/>
        </p:nvSpPr>
        <p:spPr>
          <a:xfrm>
            <a:off x="7543800" y="3026664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3008376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押印欄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3282696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押印（※印）の氏名を左右それぞれ編集可。</a:t>
            </a:r>
          </a:p>
        </p:txBody>
      </p:sp>
      <p:sp>
        <p:nvSpPr>
          <p:cNvPr id="21" name="Oval 20"/>
          <p:cNvSpPr/>
          <p:nvPr/>
        </p:nvSpPr>
        <p:spPr>
          <a:xfrm>
            <a:off x="7543800" y="3648456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3630168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出力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3904488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PDF または Excel でダウンロード。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55664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335C"/>
                </a:solidFill>
                <a:latin typeface="Yu Gothic"/>
              </a:defRPr>
            </a:pPr>
            <a:r>
              <a:t>P.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18872" cy="457200"/>
          </a:xfrm>
          <a:prstGeom prst="roundRect">
            <a:avLst/>
          </a:prstGeom>
          <a:solidFill>
            <a:srgbClr val="13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384" y="411480"/>
            <a:ext cx="118872" cy="4572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84048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defRPr sz="2400" b="1">
                <a:solidFill>
                  <a:srgbClr val="13335C"/>
                </a:solidFill>
                <a:latin typeface="Yu Gothic"/>
              </a:defRPr>
            </a:pPr>
            <a:r>
              <a:t>7. 画面⑤：削減レポ（削減実績報告書）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051560"/>
            <a:ext cx="105156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50" b="0">
                <a:solidFill>
                  <a:srgbClr val="606670"/>
                </a:solidFill>
                <a:latin typeface="Yu Gothic"/>
              </a:defRPr>
            </a:pPr>
            <a:r>
              <a:t>運用後の実績を、客先様式の削減実績報告書として作成します（前年 vs 対象年）。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675120" cy="429768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60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20439"/>
            <a:ext cx="6126480" cy="9144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defRPr sz="1400" b="1">
                <a:solidFill>
                  <a:srgbClr val="606670"/>
                </a:solidFill>
                <a:latin typeface="Yu Gothic"/>
              </a:defRPr>
            </a:pPr>
            <a:r>
              <a:t>▼ ここに『削減レポ』の</a:t>
            </a:r>
            <a:br/>
            <a:r>
              <a:t>スクリーンショットを貼り付け</a:t>
            </a:r>
            <a:br/>
            <a:r>
              <a:t>（右の番号バッジを該当箇所へドラッグ）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9659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4231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8803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3375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7947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5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2519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6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1783080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7848" y="1764792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データ取込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2039112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企業の蓄積データ／保存案件／追加インポート／テンプレDL。2年分あると比較が揃います。</a:t>
            </a:r>
          </a:p>
        </p:txBody>
      </p:sp>
      <p:sp>
        <p:nvSpPr>
          <p:cNvPr id="17" name="Oval 16"/>
          <p:cNvSpPr/>
          <p:nvPr/>
        </p:nvSpPr>
        <p:spPr>
          <a:xfrm>
            <a:off x="7543800" y="2404872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2386584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対象期間・基準年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2660904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対象期間の開始月を選択（基準年は前年を自動、変更は折りたたみ）。</a:t>
            </a:r>
          </a:p>
        </p:txBody>
      </p:sp>
      <p:sp>
        <p:nvSpPr>
          <p:cNvPr id="20" name="Oval 19"/>
          <p:cNvSpPr/>
          <p:nvPr/>
        </p:nvSpPr>
        <p:spPr>
          <a:xfrm>
            <a:off x="7543800" y="3026664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3008376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表示ラベル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3282696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客先の表記に合わせてラベルを調整・保存。</a:t>
            </a:r>
          </a:p>
        </p:txBody>
      </p:sp>
      <p:sp>
        <p:nvSpPr>
          <p:cNvPr id="23" name="Oval 22"/>
          <p:cNvSpPr/>
          <p:nvPr/>
        </p:nvSpPr>
        <p:spPr>
          <a:xfrm>
            <a:off x="7543800" y="3648456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3630168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エクセル眼鏡モード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3904488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眼鏡様専用。使用電力量を営業日数で補正するトグル。</a:t>
            </a:r>
          </a:p>
        </p:txBody>
      </p:sp>
      <p:sp>
        <p:nvSpPr>
          <p:cNvPr id="26" name="Oval 25"/>
          <p:cNvSpPr/>
          <p:nvPr/>
        </p:nvSpPr>
        <p:spPr>
          <a:xfrm>
            <a:off x="7543800" y="4270248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7848" y="4251960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数値プレビュー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7848" y="4526280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前年 vs 対象年の2年比較。表は手修正も可。</a:t>
            </a:r>
          </a:p>
        </p:txBody>
      </p:sp>
      <p:sp>
        <p:nvSpPr>
          <p:cNvPr id="29" name="Oval 28"/>
          <p:cNvSpPr/>
          <p:nvPr/>
        </p:nvSpPr>
        <p:spPr>
          <a:xfrm>
            <a:off x="7543800" y="4892040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7848" y="4873752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出力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7848" y="5148072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PDF または Excel でダウンロード。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6263640"/>
            <a:ext cx="6675120" cy="384048"/>
          </a:xfrm>
          <a:prstGeom prst="roundRect">
            <a:avLst/>
          </a:prstGeom>
          <a:solidFill>
            <a:srgbClr val="E6F2E9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050" b="1">
                <a:solidFill>
                  <a:srgbClr val="1E6B3B"/>
                </a:solidFill>
                <a:latin typeface="Yu Gothic"/>
              </a:defRPr>
            </a:pPr>
            <a:r>
              <a:t>★ 最低限：① で2年分のデータを取り込む → ② 対象期間を選ぶ → ⑥ 出力。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55664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335C"/>
                </a:solidFill>
                <a:latin typeface="Yu Gothic"/>
              </a:defRPr>
            </a:pPr>
            <a:r>
              <a:t>P.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18872" cy="457200"/>
          </a:xfrm>
          <a:prstGeom prst="roundRect">
            <a:avLst/>
          </a:prstGeom>
          <a:solidFill>
            <a:srgbClr val="13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384" y="411480"/>
            <a:ext cx="118872" cy="4572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84048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defRPr sz="2400" b="1">
                <a:solidFill>
                  <a:srgbClr val="13335C"/>
                </a:solidFill>
                <a:latin typeface="Yu Gothic"/>
              </a:defRPr>
            </a:pPr>
            <a:r>
              <a:t>8. 画面⑥：請求書（成果報酬型）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051560"/>
            <a:ext cx="105156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50" b="0">
                <a:solidFill>
                  <a:srgbClr val="606670"/>
                </a:solidFill>
                <a:latin typeface="Yu Gothic"/>
              </a:defRPr>
            </a:pPr>
            <a:r>
              <a:t>削減実績を引用し、成果報酬型の請求書を作成します。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675120" cy="429768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60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20439"/>
            <a:ext cx="6126480" cy="9144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defRPr sz="1400" b="1">
                <a:solidFill>
                  <a:srgbClr val="606670"/>
                </a:solidFill>
                <a:latin typeface="Yu Gothic"/>
              </a:defRPr>
            </a:pPr>
            <a:r>
              <a:t>▼ ここに『請求書』の</a:t>
            </a:r>
            <a:br/>
            <a:r>
              <a:t>スクリーンショットを貼り付け</a:t>
            </a:r>
            <a:br/>
            <a:r>
              <a:t>（右の番号バッジを該当箇所へドラッグ）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9659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4231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8803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3375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794760"/>
            <a:ext cx="310896" cy="310896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5</a:t>
            </a:r>
          </a:p>
        </p:txBody>
      </p:sp>
      <p:sp>
        <p:nvSpPr>
          <p:cNvPr id="13" name="Oval 12"/>
          <p:cNvSpPr/>
          <p:nvPr/>
        </p:nvSpPr>
        <p:spPr>
          <a:xfrm>
            <a:off x="7543800" y="1783080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1764792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成果報酬率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7848" y="2039112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例：0.5＝50%。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2404872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2386584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削減量の引用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2660904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契約電力・使用電力量の削減量を削減レポから自動引用。</a:t>
            </a:r>
          </a:p>
        </p:txBody>
      </p:sp>
      <p:sp>
        <p:nvSpPr>
          <p:cNvPr id="19" name="Oval 18"/>
          <p:cNvSpPr/>
          <p:nvPr/>
        </p:nvSpPr>
        <p:spPr>
          <a:xfrm>
            <a:off x="7543800" y="3026664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3008376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単価・調整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3282696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電力量単価＋燃料調整費＋再エネ賦課金（引用＋追記）。</a:t>
            </a:r>
          </a:p>
        </p:txBody>
      </p:sp>
      <p:sp>
        <p:nvSpPr>
          <p:cNvPr id="22" name="Oval 21"/>
          <p:cNvSpPr/>
          <p:nvPr/>
        </p:nvSpPr>
        <p:spPr>
          <a:xfrm>
            <a:off x="7543800" y="3648456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3630168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押印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3904488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押印（※印）の氏名を左右それぞれ記入。</a:t>
            </a:r>
          </a:p>
        </p:txBody>
      </p:sp>
      <p:sp>
        <p:nvSpPr>
          <p:cNvPr id="25" name="Oval 24"/>
          <p:cNvSpPr/>
          <p:nvPr/>
        </p:nvSpPr>
        <p:spPr>
          <a:xfrm>
            <a:off x="7543800" y="4270248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7848" y="4251960"/>
            <a:ext cx="3639312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200" b="1">
                <a:solidFill>
                  <a:srgbClr val="13335C"/>
                </a:solidFill>
                <a:latin typeface="Yu Gothic"/>
              </a:defRPr>
            </a:pPr>
            <a:r>
              <a:t>出力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7848" y="4526280"/>
            <a:ext cx="363931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950" b="0">
                <a:solidFill>
                  <a:srgbClr val="606670"/>
                </a:solidFill>
                <a:latin typeface="Yu Gothic"/>
              </a:defRPr>
            </a:pPr>
            <a:r>
              <a:t>PDF または Excel でダウンロード。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55664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335C"/>
                </a:solidFill>
                <a:latin typeface="Yu Gothic"/>
              </a:defRPr>
            </a:pPr>
            <a:r>
              <a:t>P.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11480"/>
            <a:ext cx="118872" cy="457200"/>
          </a:xfrm>
          <a:prstGeom prst="roundRect">
            <a:avLst/>
          </a:prstGeom>
          <a:solidFill>
            <a:srgbClr val="13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384" y="411480"/>
            <a:ext cx="118872" cy="4572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84048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defRPr sz="2400" b="1">
                <a:solidFill>
                  <a:srgbClr val="13335C"/>
                </a:solidFill>
                <a:latin typeface="Yu Gothic"/>
              </a:defRPr>
            </a:pPr>
            <a:r>
              <a:t>9. 出力ファイルの種類 / 困ったとき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500" b="1">
                <a:solidFill>
                  <a:srgbClr val="13335C"/>
                </a:solidFill>
                <a:latin typeface="Yu Gothic"/>
              </a:defRPr>
            </a:pPr>
            <a:r>
              <a:t>■ 出力できるもの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194560"/>
            <a:ext cx="109728" cy="10972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4241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50" b="0">
                <a:solidFill>
                  <a:srgbClr val="606670"/>
                </a:solidFill>
                <a:latin typeface="Yu Gothic"/>
              </a:defRPr>
            </a:pPr>
            <a:r>
              <a:t>提案書（PowerPoint / .pptx）… 表紙・収益サマリー・分析方法・制御可否・10年収支・環境価値 等。概算時は概算説明ページ付き。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615184"/>
            <a:ext cx="109728" cy="10972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9464"/>
            <a:ext cx="104241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50" b="0">
                <a:solidFill>
                  <a:srgbClr val="606670"/>
                </a:solidFill>
                <a:latin typeface="Yu Gothic"/>
              </a:defRPr>
            </a:pPr>
            <a:r>
              <a:t>試算表（Excel / .xlsx）… 前提・計算・顧客提示サマリー。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035808"/>
            <a:ext cx="109728" cy="10972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90088"/>
            <a:ext cx="104241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50" b="0">
                <a:solidFill>
                  <a:srgbClr val="606670"/>
                </a:solidFill>
                <a:latin typeface="Yu Gothic"/>
              </a:defRPr>
            </a:pPr>
            <a:r>
              <a:t>削減実績報告書（PDF / Excel）… 客先様式の①②③＋グラフ。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456432"/>
            <a:ext cx="109728" cy="10972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10712"/>
            <a:ext cx="104241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50" b="0">
                <a:solidFill>
                  <a:srgbClr val="606670"/>
                </a:solidFill>
                <a:latin typeface="Yu Gothic"/>
              </a:defRPr>
            </a:pPr>
            <a:r>
              <a:t>見積書・請求書（PDF / Excel）。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877056"/>
            <a:ext cx="109728" cy="10972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831336"/>
            <a:ext cx="104241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50" b="0">
                <a:solidFill>
                  <a:srgbClr val="606670"/>
                </a:solidFill>
                <a:latin typeface="Yu Gothic"/>
              </a:defRPr>
            </a:pPr>
            <a:r>
              <a:t>スライド貼付用 画像（PNG）。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500" b="1">
                <a:solidFill>
                  <a:srgbClr val="13335C"/>
                </a:solidFill>
                <a:latin typeface="Yu Gothic"/>
              </a:defRPr>
            </a:pPr>
            <a:r>
              <a:t>■ 困ったとき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5029200"/>
            <a:ext cx="109728" cy="109728"/>
          </a:xfrm>
          <a:prstGeom prst="ellipse">
            <a:avLst/>
          </a:prstGeom>
          <a:solidFill>
            <a:srgbClr val="13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983480"/>
            <a:ext cx="104241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50" b="0">
                <a:solidFill>
                  <a:srgbClr val="606670"/>
                </a:solidFill>
                <a:latin typeface="Yu Gothic"/>
              </a:defRPr>
            </a:pPr>
            <a:r>
              <a:t>起動できない … 『はじめにお読みください.txt』の手順で Python を入れ、コマンドで起動。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5449824"/>
            <a:ext cx="109728" cy="109728"/>
          </a:xfrm>
          <a:prstGeom prst="ellipse">
            <a:avLst/>
          </a:prstGeom>
          <a:solidFill>
            <a:srgbClr val="13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404104"/>
            <a:ext cx="104241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50" b="0">
                <a:solidFill>
                  <a:srgbClr val="606670"/>
                </a:solidFill>
                <a:latin typeface="Yu Gothic"/>
              </a:defRPr>
            </a:pPr>
            <a:r>
              <a:t>台数や機材が不明 … 『概算する』トグルで検針票から概算（提案書に概算注記が付きます）。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5870448"/>
            <a:ext cx="109728" cy="109728"/>
          </a:xfrm>
          <a:prstGeom prst="ellipse">
            <a:avLst/>
          </a:prstGeom>
          <a:solidFill>
            <a:srgbClr val="13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824728"/>
            <a:ext cx="104241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defRPr sz="1150" b="0">
                <a:solidFill>
                  <a:srgbClr val="606670"/>
                </a:solidFill>
                <a:latin typeface="Yu Gothic"/>
              </a:defRPr>
            </a:pPr>
            <a:r>
              <a:t>削減レポで前年が空 … 前年の明細を追加インポート（または企業の蓄積データから呼び出し）。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55664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335C"/>
                </a:solidFill>
                <a:latin typeface="Yu Gothic"/>
              </a:defRPr>
            </a:pPr>
            <a:r>
              <a:t>P.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